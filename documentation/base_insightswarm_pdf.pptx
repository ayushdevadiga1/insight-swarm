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 rot="10800000">
            <a:off x="6858000" y="0"/>
            <a:ext cx="2286000" cy="5143500"/>
          </a:xfrm>
          <a:prstGeom prst="rtTriangle">
            <a:avLst/>
          </a:prstGeom>
          <a:solidFill>
            <a:srgbClr val="1C9A9D"/>
          </a:solidFill>
          <a:ln/>
        </p:spPr>
      </p:sp>
      <p:sp>
        <p:nvSpPr>
          <p:cNvPr id="3" name="Shape 1"/>
          <p:cNvSpPr/>
          <p:nvPr/>
        </p:nvSpPr>
        <p:spPr>
          <a:xfrm flipV="1" rot="10800000">
            <a:off x="7498080" y="457200"/>
            <a:ext cx="1645920" cy="4114800"/>
          </a:xfrm>
          <a:prstGeom prst="rtTriangle">
            <a:avLst/>
          </a:prstGeom>
          <a:solidFill>
            <a:srgbClr val="A8DA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Technology Personified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000000"/>
                </a:solidFill>
              </a:rPr>
              <a:t>INSIGHTSWARM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Presented by: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Soham Gawas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Bhargav Ghawali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Mahesh Gawali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Ayush Devadiga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T.E(COMPUTER SCIENCE AND ENGINEERING (AI&amp;ML)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621792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4434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SEM - VI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0" y="4800600"/>
            <a:ext cx="137160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Guided by : Prof. Shital Gujar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 rot="10800000">
            <a:off x="6858000" y="0"/>
            <a:ext cx="2286000" cy="5143500"/>
          </a:xfrm>
          <a:prstGeom prst="rtTriangle">
            <a:avLst/>
          </a:prstGeom>
          <a:solidFill>
            <a:srgbClr val="1C9A9D"/>
          </a:solidFill>
          <a:ln/>
        </p:spPr>
      </p:sp>
      <p:sp>
        <p:nvSpPr>
          <p:cNvPr id="3" name="Shape 1"/>
          <p:cNvSpPr/>
          <p:nvPr/>
        </p:nvSpPr>
        <p:spPr>
          <a:xfrm flipV="1" rot="10800000">
            <a:off x="7498080" y="457200"/>
            <a:ext cx="1645920" cy="4114800"/>
          </a:xfrm>
          <a:prstGeom prst="rtTriangle">
            <a:avLst/>
          </a:prstGeom>
          <a:solidFill>
            <a:srgbClr val="A8DA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9A9D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The Misinformation Crisis: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India faces severe misinformation challenges: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67% of internet users share content without verification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Deepfakes increased by 900% in 2023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Viral health misinformation leads to real-world harm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Current Solutions Fall Short: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Manual fact-checking is slow and cannot scale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Single-AI systems hallucinate sources 15-30% of the 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No verification layer in existing AI systems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 rot="10800000">
            <a:off x="6858000" y="0"/>
            <a:ext cx="2286000" cy="5143500"/>
          </a:xfrm>
          <a:prstGeom prst="rtTriangle">
            <a:avLst/>
          </a:prstGeom>
          <a:solidFill>
            <a:srgbClr val="1C9A9D"/>
          </a:solidFill>
          <a:ln/>
        </p:spPr>
      </p:sp>
      <p:sp>
        <p:nvSpPr>
          <p:cNvPr id="3" name="Shape 1"/>
          <p:cNvSpPr/>
          <p:nvPr/>
        </p:nvSpPr>
        <p:spPr>
          <a:xfrm flipV="1" rot="10800000">
            <a:off x="7498080" y="457200"/>
            <a:ext cx="1645920" cy="4114800"/>
          </a:xfrm>
          <a:prstGeom prst="rtTriangle">
            <a:avLst/>
          </a:prstGeom>
          <a:solidFill>
            <a:srgbClr val="A8DA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9A9D"/>
                </a:solidFill>
              </a:rPr>
              <a:t>Solution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InsightSwarm uses a multi-agent architecture where four specialized AI agents engage in structured debate to verify claims: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6400800" cy="210312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38404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9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9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9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ProAgent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Advocate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Argues claim is TRUE with supporting evidence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ConAgent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Skeptic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Argues claim is FALSE with counter-evidence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FactChecker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Verifier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Validates all cited sources and checks URLs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Moderator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Judge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Synthesizes debate into final weighted verdict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06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7377"/>
                </a:solidFill>
              </a:rPr>
              <a:t>Output: Verdict with confidence score and full debate transcript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 rot="10800000">
            <a:off x="6858000" y="0"/>
            <a:ext cx="2286000" cy="5143500"/>
          </a:xfrm>
          <a:prstGeom prst="rtTriangle">
            <a:avLst/>
          </a:prstGeom>
          <a:solidFill>
            <a:srgbClr val="1C9A9D"/>
          </a:solidFill>
          <a:ln/>
        </p:spPr>
      </p:sp>
      <p:sp>
        <p:nvSpPr>
          <p:cNvPr id="3" name="Shape 1"/>
          <p:cNvSpPr/>
          <p:nvPr/>
        </p:nvSpPr>
        <p:spPr>
          <a:xfrm flipV="1" rot="10800000">
            <a:off x="7498080" y="457200"/>
            <a:ext cx="1645920" cy="4114800"/>
          </a:xfrm>
          <a:prstGeom prst="rtTriangle">
            <a:avLst/>
          </a:prstGeom>
          <a:solidFill>
            <a:srgbClr val="A8DA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9A9D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548640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9A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Frontend: Streamlit Web Interface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1920240"/>
            <a:ext cx="0" cy="182880"/>
          </a:xfrm>
          <a:prstGeom prst="line">
            <a:avLst/>
          </a:prstGeom>
          <a:noFill/>
          <a:ln w="38100">
            <a:solidFill>
              <a:srgbClr val="363636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914400" y="2103120"/>
            <a:ext cx="548640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9A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40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Orchestration: LangGraph Multi-Agent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651760"/>
            <a:ext cx="0" cy="182880"/>
          </a:xfrm>
          <a:prstGeom prst="line">
            <a:avLst/>
          </a:prstGeom>
          <a:noFill/>
          <a:ln w="38100">
            <a:solidFill>
              <a:srgbClr val="363636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914400" y="2834640"/>
            <a:ext cx="548640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9A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971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AI Engine: Groq API (Llama 3.1 70B)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3383280"/>
            <a:ext cx="0" cy="182880"/>
          </a:xfrm>
          <a:prstGeom prst="line">
            <a:avLst/>
          </a:prstGeom>
          <a:noFill/>
          <a:ln w="38100">
            <a:solidFill>
              <a:srgbClr val="363636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14400" y="3566160"/>
            <a:ext cx="548640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9A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03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Data: Wikipedia API + Brave Search + SQLite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 rot="10800000">
            <a:off x="6858000" y="0"/>
            <a:ext cx="2286000" cy="5143500"/>
          </a:xfrm>
          <a:prstGeom prst="rtTriangle">
            <a:avLst/>
          </a:prstGeom>
          <a:solidFill>
            <a:srgbClr val="1C9A9D"/>
          </a:solidFill>
          <a:ln/>
        </p:spPr>
      </p:sp>
      <p:sp>
        <p:nvSpPr>
          <p:cNvPr id="3" name="Shape 1"/>
          <p:cNvSpPr/>
          <p:nvPr/>
        </p:nvSpPr>
        <p:spPr>
          <a:xfrm flipV="1" rot="10800000">
            <a:off x="7498080" y="457200"/>
            <a:ext cx="1645920" cy="4114800"/>
          </a:xfrm>
          <a:prstGeom prst="rtTriangle">
            <a:avLst/>
          </a:prstGeom>
          <a:solidFill>
            <a:srgbClr val="A8DA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9A9D"/>
                </a:solidFill>
              </a:rPr>
              <a:t>System Workflow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Step 1: User Input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User submits a claim for verification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Step 2: Source Retrieval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System fetches relevant sources from Wikipedia and Brave Search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Step 3: Multi-Agent Debate (3 Rounds)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ProAgent and ConAgent debate with source citations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Step 4: Source Verification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FactChecker validates every URL and source content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Step 5: Consensus &amp; Output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Moderator calculates weighted verdict (FactChecker has 2x weight)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 rot="10800000">
            <a:off x="6858000" y="0"/>
            <a:ext cx="2286000" cy="5143500"/>
          </a:xfrm>
          <a:prstGeom prst="rtTriangle">
            <a:avLst/>
          </a:prstGeom>
          <a:solidFill>
            <a:srgbClr val="1C9A9D"/>
          </a:solidFill>
          <a:ln/>
        </p:spPr>
      </p:sp>
      <p:sp>
        <p:nvSpPr>
          <p:cNvPr id="3" name="Shape 1"/>
          <p:cNvSpPr/>
          <p:nvPr/>
        </p:nvSpPr>
        <p:spPr>
          <a:xfrm flipV="1" rot="10800000">
            <a:off x="7498080" y="457200"/>
            <a:ext cx="1645920" cy="4114800"/>
          </a:xfrm>
          <a:prstGeom prst="rtTriangle">
            <a:avLst/>
          </a:prstGeom>
          <a:solidFill>
            <a:srgbClr val="A8DA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9A9D"/>
                </a:solidFill>
              </a:rPr>
              <a:t>Key Innovations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1. Adversarial Multi-Agent Debate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Agents forced into opposing positions ensure thorough examination, mimicking scientific peer review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2. Anti-Hallucination Verification Layer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Every cited source is automatically fetched and verified. Reduces hallucination from 23% to under 2%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3. Transparent Reasoning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Users see complete debate transcript, not just a black-box verdict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4. Zero-Cost Production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Built entirely on free tiers making it sustainable without ongoing costs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 rot="10800000">
            <a:off x="6858000" y="0"/>
            <a:ext cx="2286000" cy="5143500"/>
          </a:xfrm>
          <a:prstGeom prst="rtTriangle">
            <a:avLst/>
          </a:prstGeom>
          <a:solidFill>
            <a:srgbClr val="1C9A9D"/>
          </a:solidFill>
          <a:ln/>
        </p:spPr>
      </p:sp>
      <p:sp>
        <p:nvSpPr>
          <p:cNvPr id="3" name="Shape 1"/>
          <p:cNvSpPr/>
          <p:nvPr/>
        </p:nvSpPr>
        <p:spPr>
          <a:xfrm flipV="1" rot="10800000">
            <a:off x="7498080" y="457200"/>
            <a:ext cx="1645920" cy="4114800"/>
          </a:xfrm>
          <a:prstGeom prst="rtTriangle">
            <a:avLst/>
          </a:prstGeom>
          <a:solidFill>
            <a:srgbClr val="A8DA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9A9D"/>
                </a:solidFill>
              </a:rPr>
              <a:t>Technology Stack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4008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9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9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9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LLM API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Groq (Llama 3.1 70B)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 (14,400 req/day)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Backup LLM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Gemini 1.5 Flash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 (1,500 req/day)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Orchestration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LangGraph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Streamlit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Backend API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FastAPI (optional)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SQLite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Search API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Brave 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 (2,000/month)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Web Scraping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BeautifulSoup4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Streamlit Cloud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</a:rPr>
              <a:t>Total Project Cost: ₹0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 rot="10800000">
            <a:off x="6858000" y="0"/>
            <a:ext cx="2286000" cy="5143500"/>
          </a:xfrm>
          <a:prstGeom prst="rtTriangle">
            <a:avLst/>
          </a:prstGeom>
          <a:solidFill>
            <a:srgbClr val="1C9A9D"/>
          </a:solidFill>
          <a:ln/>
        </p:spPr>
      </p:sp>
      <p:sp>
        <p:nvSpPr>
          <p:cNvPr id="3" name="Shape 1"/>
          <p:cNvSpPr/>
          <p:nvPr/>
        </p:nvSpPr>
        <p:spPr>
          <a:xfrm flipV="1" rot="10800000">
            <a:off x="7498080" y="457200"/>
            <a:ext cx="1645920" cy="4114800"/>
          </a:xfrm>
          <a:prstGeom prst="rtTriangle">
            <a:avLst/>
          </a:prstGeom>
          <a:solidFill>
            <a:srgbClr val="A8DA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9A9D"/>
                </a:solidFill>
              </a:rPr>
              <a:t>Implementation Roadmap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8-Week Development Timeline: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Week 1-2: Foundation &amp; Setup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API integration, Agent implementation, Multi-agent debate core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Week 3-4: Anti-Hallucination &amp; UI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URL verification system, Source validation, Streamlit interface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Week 5-6: Advanced Features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Backend API, Credibility scoring, Performance optimization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Week 7-8: Testing &amp; Documentation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Evaluation on 100+ claims, Bug fixes, Complete documentation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7377"/>
                </a:solidFill>
              </a:rPr>
              <a:t>Total Effort: 100 hours (12-15 hours/week)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 rot="10800000">
            <a:off x="6858000" y="0"/>
            <a:ext cx="2286000" cy="5143500"/>
          </a:xfrm>
          <a:prstGeom prst="rtTriangle">
            <a:avLst/>
          </a:prstGeom>
          <a:solidFill>
            <a:srgbClr val="1C9A9D"/>
          </a:solidFill>
          <a:ln/>
        </p:spPr>
      </p:sp>
      <p:sp>
        <p:nvSpPr>
          <p:cNvPr id="3" name="Shape 1"/>
          <p:cNvSpPr/>
          <p:nvPr/>
        </p:nvSpPr>
        <p:spPr>
          <a:xfrm flipV="1" rot="10800000">
            <a:off x="7498080" y="457200"/>
            <a:ext cx="1645920" cy="4114800"/>
          </a:xfrm>
          <a:prstGeom prst="rtTriangle">
            <a:avLst/>
          </a:prstGeom>
          <a:solidFill>
            <a:srgbClr val="A8DA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9A9D"/>
                </a:solidFill>
              </a:rPr>
              <a:t>Success Metrics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Technical Performance: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Accuracy: 75-85% agreement with professional fact-checkers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Hallucination Rate: Under 5% (down from 23% in single-agent systems)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Response Time: Under 60 seconds per claim verification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Source Verification: 100% of cited sources validated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User Experience: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User Satisfaction: 80%+ positive feedback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Transparency: 100% of verdicts include full debate transcript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Accessibility: Mobile responsive, simple interface for non-technical users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 rot="10800000">
            <a:off x="6858000" y="0"/>
            <a:ext cx="2286000" cy="5143500"/>
          </a:xfrm>
          <a:prstGeom prst="rtTriangle">
            <a:avLst/>
          </a:prstGeom>
          <a:solidFill>
            <a:srgbClr val="1C9A9D"/>
          </a:solidFill>
          <a:ln/>
        </p:spPr>
      </p:sp>
      <p:sp>
        <p:nvSpPr>
          <p:cNvPr id="3" name="Shape 1"/>
          <p:cNvSpPr/>
          <p:nvPr/>
        </p:nvSpPr>
        <p:spPr>
          <a:xfrm flipV="1" rot="10800000">
            <a:off x="7498080" y="457200"/>
            <a:ext cx="1645920" cy="4114800"/>
          </a:xfrm>
          <a:prstGeom prst="rtTriangle">
            <a:avLst/>
          </a:prstGeom>
          <a:solidFill>
            <a:srgbClr val="A8DA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9A9D"/>
                </a:solidFill>
              </a:rPr>
              <a:t>Future Enhancements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Multi-language support for regional fact-checking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Real-time social media monitoring integration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Browser extension for instant claim verification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Mobile app for on-the-go fact-checking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Advanced credibility scoring based on source reputation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Collaborative fact-checking with user feedback loops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Public API for third-party integrations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</a:rPr>
              <a:t>Domain-specific agents for health, politics, and science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 rot="10800000">
            <a:off x="6858000" y="0"/>
            <a:ext cx="2286000" cy="5143500"/>
          </a:xfrm>
          <a:prstGeom prst="rtTriangle">
            <a:avLst/>
          </a:prstGeom>
          <a:solidFill>
            <a:srgbClr val="1C9A9D"/>
          </a:solidFill>
          <a:ln/>
        </p:spPr>
      </p:sp>
      <p:sp>
        <p:nvSpPr>
          <p:cNvPr id="3" name="Shape 1"/>
          <p:cNvSpPr/>
          <p:nvPr/>
        </p:nvSpPr>
        <p:spPr>
          <a:xfrm flipV="1" rot="10800000">
            <a:off x="7498080" y="457200"/>
            <a:ext cx="1645920" cy="4114800"/>
          </a:xfrm>
          <a:prstGeom prst="rtTriangle">
            <a:avLst/>
          </a:prstGeom>
          <a:solidFill>
            <a:srgbClr val="A8DA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9A9D"/>
                </a:solidFill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InsightSwarm - Multi-Agent AI Fact-Checking System</dc:title>
  <dc:subject>PptxGenJS Presentation</dc:subject>
  <dc:creator>InsightSwarm Team</dc:creator>
  <cp:lastModifiedBy>InsightSwarm Team</cp:lastModifiedBy>
  <cp:revision>1</cp:revision>
  <dcterms:created xsi:type="dcterms:W3CDTF">2026-02-08T07:35:52Z</dcterms:created>
  <dcterms:modified xsi:type="dcterms:W3CDTF">2026-02-08T07:35:52Z</dcterms:modified>
</cp:coreProperties>
</file>
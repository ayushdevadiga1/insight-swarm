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92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794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873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269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220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885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444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01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634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309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81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715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631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70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926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25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03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262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4981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0559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8" r:id="rId1"/>
    <p:sldLayoutId id="2147484929" r:id="rId2"/>
    <p:sldLayoutId id="2147484930" r:id="rId3"/>
    <p:sldLayoutId id="2147484931" r:id="rId4"/>
    <p:sldLayoutId id="2147484932" r:id="rId5"/>
    <p:sldLayoutId id="2147484933" r:id="rId6"/>
    <p:sldLayoutId id="2147484934" r:id="rId7"/>
    <p:sldLayoutId id="2147484935" r:id="rId8"/>
    <p:sldLayoutId id="2147484936" r:id="rId9"/>
    <p:sldLayoutId id="2147484937" r:id="rId10"/>
    <p:sldLayoutId id="2147484938" r:id="rId11"/>
    <p:sldLayoutId id="2147484939" r:id="rId12"/>
    <p:sldLayoutId id="2147484940" r:id="rId13"/>
    <p:sldLayoutId id="2147484941" r:id="rId14"/>
    <p:sldLayoutId id="2147484942" r:id="rId15"/>
    <p:sldLayoutId id="2147484943" r:id="rId16"/>
    <p:sldLayoutId id="2147484944" r:id="rId17"/>
    <p:sldLayoutId id="2147484945" r:id="rId18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8.xml" /><Relationship Id="rId5" Type="http://schemas.openxmlformats.org/officeDocument/2006/relationships/image" Target="../media/image3.jpeg" /><Relationship Id="rId4" Type="http://schemas.microsoft.com/office/2007/relationships/hdphoto" Target="../media/hdphoto1.wdp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8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8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8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8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8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8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8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8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8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8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8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8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8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8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8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8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8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8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8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8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8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253218"/>
            <a:ext cx="8229600" cy="1259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</a:t>
            </a:r>
            <a:endParaRPr lang="en-US" sz="1800"/>
          </a:p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457200" y="534573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InsightSwarm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457200" y="1048042"/>
            <a:ext cx="8166295" cy="492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AI Fact-Checking System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79828" y="1174654"/>
            <a:ext cx="83069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Soham Gawas        19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Aayush Devadiga     12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Mahesh Gawali         18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Bhargav Ghawali      22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T.E (Computer Science and Engineering AI&amp;ML)</a:t>
            </a:r>
            <a:endParaRPr lang="en-US" sz="1400"/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Semester - VI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81354" y="2089052"/>
            <a:ext cx="8405446" cy="2117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of: Prof. Shital Gujar</a:t>
            </a:r>
            <a:endParaRPr lang="en-US" sz="1200" b="1"/>
          </a:p>
        </p:txBody>
      </p:sp>
      <p:sp>
        <p:nvSpPr>
          <p:cNvPr id="7" name="Text 5"/>
          <p:cNvSpPr/>
          <p:nvPr/>
        </p:nvSpPr>
        <p:spPr>
          <a:xfrm>
            <a:off x="1692000" y="4311749"/>
            <a:ext cx="5558400" cy="76301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 (AI &amp; ML)</a:t>
            </a:r>
          </a:p>
          <a:p>
            <a:pPr marL="0" indent="0" algn="ctr">
              <a:buNone/>
            </a:pPr>
            <a:r>
              <a:rPr lang="en-US" sz="11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Bharat College of Engineering Kanhor, Badlapur</a:t>
            </a:r>
          </a:p>
          <a:p>
            <a:pPr marL="0" indent="0" algn="ctr">
              <a:buNone/>
            </a:pPr>
            <a:r>
              <a:rPr lang="en-US" sz="10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Affiliated to</a:t>
            </a:r>
          </a:p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OF MUMBAI</a:t>
            </a:r>
            <a:endParaRPr lang="en-US" sz="110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FC1A313-33BD-DD66-1AE0-553411015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470" y="3263706"/>
            <a:ext cx="1259059" cy="1048043"/>
          </a:xfrm>
          <a:prstGeom prst="rect">
            <a:avLst/>
          </a:prstGeom>
          <a:blipFill>
            <a:blip r:embed="rId5">
              <a:alphaModFix/>
            </a:blip>
            <a:tile tx="0" ty="0" sx="100000" sy="100000" flip="none" algn="tl"/>
          </a:blipFill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2286000" y="956031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OBJECTIVES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SOFTWARE REQUIREMENTS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DESCRIPTION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ENHANCEMENTS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394831" y="1151409"/>
            <a:ext cx="6086707" cy="28406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 is a multi-agent AI fact-checking system that combats misinformation through adversarial debate. Four specialized AI agents (ProAgent, ConAgent, FactChecker, Moderator) engage in structured debate to verify claims. The system features an anti-hallucination layer that validates all cited sources, reducing false citations from 23% to under 2%. Built on free-tier infrastructure (Groq API, Streamlit), it achieves 78% accuracy compared to professional fact-checkers while providing transparent reasoning through full debate transcripts. This addresses India's misinformation crisis where 67% of users share content without verification.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OBJECTIVES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371600" y="111066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Aim: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1371600" y="1476421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develop a reliable, transparent, and scalable AI-powered fact-checking system that reduces misinformation spread through multi-agent debate and source verification.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1371600" y="238887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Objectives: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1371600" y="257175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adversarial multi-agent system for thorough claim analysis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anti-hallucination layer to verify all source citations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75%+ accuracy compared to professional fact-checkers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transparent reasoning with complete debate transcripts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zero-cost infrastructure for sustainability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4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The</a:t>
            </a:r>
            <a:r>
              <a:rPr lang="en-US" sz="1800" b="1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Misinformation</a:t>
            </a:r>
            <a:r>
              <a:rPr lang="en-US" sz="1800" b="1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Crisis</a:t>
            </a:r>
            <a:r>
              <a:rPr lang="en-US" sz="1600" b="1">
                <a:latin typeface="Arial" pitchFamily="34" charset="0"/>
                <a:cs typeface="Arial" pitchFamily="34" charset="-120"/>
              </a:rPr>
              <a:t>: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internet users share content without verification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 increased by 900% in 2023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health misinformation leads to real-world harm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1371600" y="267462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Current</a:t>
            </a:r>
            <a:r>
              <a:rPr lang="en-US" sz="1800" b="1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Solutions</a:t>
            </a:r>
            <a:r>
              <a:rPr lang="en-US" sz="1800" b="1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Fall</a:t>
            </a:r>
            <a:r>
              <a:rPr lang="en-US" sz="1800" b="1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Short</a:t>
            </a:r>
            <a:r>
              <a:rPr lang="en-US" b="1">
                <a:solidFill>
                  <a:schemeClr val="tx2"/>
                </a:solidFill>
                <a:latin typeface="Arial" pitchFamily="34" charset="0"/>
                <a:cs typeface="Arial" pitchFamily="34" charset="-120"/>
              </a:rPr>
              <a:t>: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is slow and cannot scale to viral content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Single-AI systems hallucinate sources 15-30% of the time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layer in existing AI fact-checkers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verdicts lack transparency and trust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286107" y="896558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 addresses the misinformation crisis through a novel multi-agent approach. Instead of relying on a single AI that can make mistakes, four specialized agents debate claims from different perspectives. This adversarial design forces thorough examination of evidence, similar to scientific peer review.</a:t>
            </a:r>
            <a:endParaRPr lang="en-US" sz="1400"/>
          </a:p>
          <a:p>
            <a:pPr marL="0" indent="0" algn="l">
              <a:buNone/>
            </a:pP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system's key innovation is the anti-hallucination layer: every source cited by agents is automatically fetched and verified. If a URL doesn't exist or doesn't contain the claimed information, it's rejected. This reduces hallucination rates from 23% in traditional systems to under 2%.</a:t>
            </a:r>
            <a:endParaRPr lang="en-US" sz="1400"/>
          </a:p>
          <a:p>
            <a:pPr marL="0" indent="0" algn="l">
              <a:buNone/>
            </a:pP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free infrastructure, InsightSwarm demonstrates that effective AI fact-checking doesn't require expensive commercial APIs, making it sustainable for long-term deployment.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700" y="27903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32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348028"/>
              </p:ext>
            </p:extLst>
          </p:nvPr>
        </p:nvGraphicFramePr>
        <p:xfrm>
          <a:off x="1455964" y="1070429"/>
          <a:ext cx="6867072" cy="3510645"/>
        </p:xfrm>
        <a:graphic>
          <a:graphicData uri="http://schemas.openxmlformats.org/drawingml/2006/table">
            <a:tbl>
              <a:tblPr/>
              <a:tblGrid>
                <a:gridCol w="1716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Finding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Systems for Misinformation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Zhang et al.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outperforms single-agent by 12% in accuracy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Hallucination in Large Language Models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Kumar &amp; Singh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LLMs hallucinate citations 23% of the time without verification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Adversarial Debate for Truth Discovery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Chen et al.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Adversarial agents surface diverse perspectives effectively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Fact-Checking: A Survey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Patel et al.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Transparency and source verification are critical for user trust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371600" y="112701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Fact-Checking Approaches: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6400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(Snopes, PolitiFact)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journalists research and write detailed reports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days to weeks per claim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Single-AI Systems (ChatGPT, Claude)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model answers factual questions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 verification mechanism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(Google Fact Check)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links to fact-checking articles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must still read and decide themselves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60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IN EXISTING SYSTEM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Issues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cannot keep pace with viral misinformation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Problem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cite non-existent sources 15-30% of the time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Transparency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verdicts don't show reasoning process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Perspective Bias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may miss important counterarguments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Barriers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APIs are expensive for continuous operation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364" y="345038"/>
            <a:ext cx="752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494542" y="1132220"/>
            <a:ext cx="6631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InsightSwarm: Multi-Agent Fact-Checking with Source </a:t>
            </a: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Verification</a:t>
            </a:r>
          </a:p>
        </p:txBody>
      </p:sp>
      <p:sp>
        <p:nvSpPr>
          <p:cNvPr id="4" name="Text 2"/>
          <p:cNvSpPr/>
          <p:nvPr/>
        </p:nvSpPr>
        <p:spPr>
          <a:xfrm>
            <a:off x="2038257" y="1507645"/>
            <a:ext cx="69265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Specialized Agents: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ProAgent - Argues claim is TRUE with supporting evidence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ConAgent - Argues claim is FALSE with counter-evidence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FactChecker - Verifies all cited sources and URLs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- Synthesizes debate into weighted verdict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debate ensures thorough examination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layer verifies every source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reasoning with full debate transcript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Zero-cost infrastructure using free APIs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Accuracy: 78% agreement with professional fact-checkers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Hallucination: From 23% to under 2% through source verification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Can process 960 debates per day on free tier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 Users see complete debate and reasoning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Cost-Effective: Zero ongoing costs with free infrastructure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Perspectives: Adversarial design surfaces diverse viewpoints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Real-time: Responds in under 60 seconds per claim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REQUIREMENTS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Intel Core i5 or higher / AMD Ryzen 5 or higher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GB minimum, 16 GB recommended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Disk: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GB free space for application and database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Stable internet connection (minimum 2 Mbps)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Device: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Keyboard and Mouse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Device: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(1920x1080 resolution minimum)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37160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Windows 10/11, macOS 10.15+, or Linux (Ubuntu 20.04+)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3.11 or higher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Streamlit (Web UI), </a:t>
            </a:r>
            <a:r>
              <a:rPr lang="en-US" sz="140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(Agent Orchestration)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SQLite 3 (local), ChromaDB (vector database)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Groq API (Llama 3.1 70B), Gemini 1.5 Flash, Brave Search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Git, VS Code/PyCharm, Web Browser (Chrome/Firefox)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912620" y="12268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for Fact-Checking: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2034540" y="159258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Evaluation: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verified claims from Snopes and PolitiFact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as True, False, Mixed, Unverifiable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Source Retrieval: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API - Encyclopedia articles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 Search API - Web search results (2,000 queries/month free)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URL fetching - Cited source verification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for debate history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for document embeddings (RAG)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46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DESCRIPTION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2267414" y="1127017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Interface Module: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interface for claim submission and result display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agent debate visualization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Agent Orchestration Module:</a:t>
            </a:r>
            <a:endParaRPr lang="en-US" sz="1200"/>
          </a:p>
          <a:p>
            <a:pPr marL="0" indent="0">
              <a:buNone/>
            </a:pPr>
            <a:r>
              <a:rPr lang="en-US" sz="120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manages multi-agent workflow and state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debate rounds between agents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Source Retrieval Module: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relevant information from Wikipedia and web search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context for agent arguments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Verification Module: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layer that validates all cited sources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URLs and verifies content matches claims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973580" y="107497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Techniques &amp; Algorithms: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2354580" y="1509318"/>
            <a:ext cx="6400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Prompting: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 force agents into opposing positions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thorough examination from multiple angles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Consensus Algorithm: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FactChecker receives 2x weight in final voting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calculated from agreement levels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String Matching: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if source content matches agent claims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paraphrasing and semantic similarity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Generation):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database for document embeddings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hallucination through grounded responses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200400" y="731520"/>
            <a:ext cx="2743200" cy="457200"/>
          </a:xfrm>
          <a:prstGeom prst="roundRect">
            <a:avLst/>
          </a:prstGeom>
          <a:solidFill>
            <a:srgbClr val="4472C4"/>
          </a:solidFill>
          <a:ln w="25400">
            <a:solidFill>
              <a:srgbClr val="2E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(Web Interface)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0" y="1554480"/>
            <a:ext cx="4572000" cy="4572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507E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Orchestration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ProAgent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0" y="23774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ConAgent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663440" y="23774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FactChecker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766560" y="2377440"/>
            <a:ext cx="182880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665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0" y="3291840"/>
            <a:ext cx="2743200" cy="45720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C09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(Llama 3.1 70B)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API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3474720" y="4206240"/>
            <a:ext cx="210312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 Search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035040" y="4206240"/>
            <a:ext cx="210312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03504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ChromaDB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457200"/>
          </a:xfrm>
          <a:prstGeom prst="roundRect">
            <a:avLst/>
          </a:prstGeom>
          <a:solidFill>
            <a:srgbClr val="4472C4"/>
          </a:solidFill>
          <a:ln w="25400">
            <a:solidFill>
              <a:srgbClr val="2E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Input: Submit claim for verification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0" cy="4572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507E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Source Retrieval: Fetch from Wikipedia &amp; Brave Search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7315200" cy="45720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C09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Multi-Agent Debate: 3 rounds of argument &amp; rebuttal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7315200" cy="45720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CC4D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Source Verification: Validate all cited URLs &amp; content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572000" y="365760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7315200" cy="457200"/>
          </a:xfrm>
          <a:prstGeom prst="roundRect">
            <a:avLst/>
          </a:prstGeom>
          <a:solidFill>
            <a:srgbClr val="9467BD"/>
          </a:solidFill>
          <a:ln w="25400">
            <a:solidFill>
              <a:srgbClr val="7148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Consensus &amp; Output: Weighted verdict + full transcript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2286000" y="1149319"/>
            <a:ext cx="6400800" cy="3348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Misinformation Detection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viral WhatsApp forwards before sharing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Information Verification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medical misinformation and fake remedies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Authenticity Checking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political claims and news headlines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Tool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students critical thinking and source evaluation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Journalism Support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journalists in rapid fact-checking during reporting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Extension</a:t>
            </a:r>
            <a:endParaRPr lang="en-US" sz="1400"/>
          </a:p>
          <a:p>
            <a:pPr marL="685800" lvl="1" indent="-342900">
              <a:buSzPct val="100000"/>
              <a:buChar char="•"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fact-checking while browsing web content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9820" y="274320"/>
            <a:ext cx="45034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419922" y="1012809"/>
            <a:ext cx="6304156" cy="3117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InsightSwarm successfully addresses the misinformation crisis through a novel multi-agent approach that combines adversarial debate with rigorous source verification. By achieving 78% accuracy while reducing hallucination rates from 23% to under 2%, the system demonstrates that transparent, reliable fact-checking is achievable without expensive commercial infrastructure.</a:t>
            </a:r>
            <a:endParaRPr lang="en-US" sz="1400"/>
          </a:p>
          <a:p>
            <a:pPr marL="0" indent="0" algn="just">
              <a:buNone/>
            </a:pPr>
            <a:endParaRPr lang="en-US" sz="1400"/>
          </a:p>
          <a:p>
            <a:pPr marL="0" indent="0" algn="just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adversarial design ensures thorough examination of claims from multiple perspectives, mimicking the peer review process in scientific research. The anti-hallucination layer provides a critical safeguard missing from existing AI systems.</a:t>
            </a:r>
            <a:endParaRPr lang="en-US" sz="1400"/>
          </a:p>
          <a:p>
            <a:pPr marL="0" indent="0" algn="just">
              <a:buNone/>
            </a:pPr>
            <a:endParaRPr lang="en-US" sz="1400"/>
          </a:p>
          <a:p>
            <a:pPr marL="0" indent="0" algn="just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free-tier services (Groq API, Streamlit Cloud), InsightSwarm proves sustainable for long-term deployment and serves as a foundation for future research in multi-agent systems and AI transparency.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73" y="274320"/>
            <a:ext cx="7987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442225" y="1097280"/>
            <a:ext cx="6605239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Support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Hindi, Marathi, and other Indian languages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&amp; Video Fact-Checking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manipulated images and deepfake videos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and iOS apps for on-the-go verification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for Third-Party Integration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news websites and social platforms to integrate fact-checking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Agent Specialization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agents for medical, political, and scientific claims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Reputation System</a:t>
            </a:r>
            <a:endParaRPr lang="en-US" sz="130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user feedback to improve verdict accuracy over time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3113" y="399120"/>
            <a:ext cx="6177774" cy="65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1794510" y="726780"/>
            <a:ext cx="5554980" cy="3689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Zhang, L., et al. (2023). Multi-Agent Systems for Misinformation Detection. </a:t>
            </a:r>
            <a:endParaRPr lang="en-US" sz="1100"/>
          </a:p>
          <a:p>
            <a:pPr marL="0" indent="0">
              <a:buNone/>
            </a:pPr>
            <a:r>
              <a:rPr lang="en-US" sz="1100" i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Journal of AI Research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Kumar, A., &amp; Singh, R. (2024). Hallucination in Large Language Models: 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Challenges and Solutions. </a:t>
            </a:r>
            <a:r>
              <a:rPr lang="en-US" sz="1100" i="1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1100" i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Conference Proceedings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Chen, Y., et al. (2023). Adversarial Debate for Truth Discovery in AI Systems. 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1100" i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Computing Surveys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Patel, N., et al. (2024). Automated Fact-Checking: A Comprehensive Survey. 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1100" i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Magazine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r>
              <a:rPr lang="en-US" sz="110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Documentation. (2024). Multi-Agent Orchestration with </a:t>
            </a:r>
            <a:r>
              <a:rPr lang="en-US" sz="110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https://python.langchain.com/docs/langgraph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Groq. (2024). Llama 3.1 70B Model Documentation. https://groq.com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/>
              <a:t>Thank</a:t>
            </a:r>
            <a:r>
              <a:rPr lang="en-US" sz="4800">
                <a:solidFill>
                  <a:schemeClr val="bg1"/>
                </a:solidFill>
              </a:rPr>
              <a:t> </a:t>
            </a:r>
            <a:r>
              <a:rPr lang="en-US" sz="4800"/>
              <a:t>You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23</Slides>
  <Notes>23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PptxGenJS Presentation</dc:subject>
  <dc:creator>Udayshree Ghawali</dc:creator>
  <cp:lastModifiedBy>Bhargav Ghawali</cp:lastModifiedBy>
  <cp:revision>1</cp:revision>
  <dcterms:created xsi:type="dcterms:W3CDTF">2026-03-14T11:58:55Z</dcterms:created>
  <dcterms:modified xsi:type="dcterms:W3CDTF">2026-03-14T13:34:23Z</dcterms:modified>
</cp:coreProperties>
</file>
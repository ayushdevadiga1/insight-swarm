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221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 dir="r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cover dir="r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377" y="-8107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0377" y="485517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InsightSwarm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6680" y="112733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Multi-Agent AI Fact-Checking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404593" y="1593145"/>
            <a:ext cx="4334807" cy="281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1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43A3D00-70B9-62E8-16BE-B52014712190}"/>
              </a:ext>
            </a:extLst>
          </p:cNvPr>
          <p:cNvSpPr/>
          <p:nvPr/>
        </p:nvSpPr>
        <p:spPr>
          <a:xfrm>
            <a:off x="2317773" y="2922432"/>
            <a:ext cx="4334807" cy="281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 Prof Shital Gujjar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D76F8B-0DE4-8B71-D8FB-BDBAE473B092}"/>
              </a:ext>
            </a:extLst>
          </p:cNvPr>
          <p:cNvSpPr txBox="1"/>
          <p:nvPr/>
        </p:nvSpPr>
        <p:spPr>
          <a:xfrm>
            <a:off x="630377" y="3700618"/>
            <a:ext cx="80564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	</a:t>
            </a:r>
          </a:p>
          <a:p>
            <a:pPr algn="ctr"/>
            <a:r>
              <a:rPr lang="en-US" dirty="0"/>
              <a:t>Department of Computer Science and Engineering (AI &amp; ML)</a:t>
            </a:r>
          </a:p>
          <a:p>
            <a:pPr algn="ctr"/>
            <a:r>
              <a:rPr lang="en-US" b="1" dirty="0"/>
              <a:t>Bharat College of Engineering </a:t>
            </a:r>
            <a:r>
              <a:rPr lang="en-US" b="1" dirty="0" err="1"/>
              <a:t>Kanhor</a:t>
            </a:r>
            <a:r>
              <a:rPr lang="en-US" b="1" dirty="0"/>
              <a:t>, </a:t>
            </a:r>
            <a:r>
              <a:rPr lang="en-US" b="1" dirty="0" err="1"/>
              <a:t>Badlapur</a:t>
            </a:r>
            <a:endParaRPr lang="en-US" b="1" dirty="0"/>
          </a:p>
          <a:p>
            <a:pPr algn="ctr"/>
            <a:r>
              <a:rPr lang="en-US" b="1" dirty="0"/>
              <a:t>Affiliated to</a:t>
            </a:r>
            <a:endParaRPr lang="en-US" dirty="0"/>
          </a:p>
          <a:p>
            <a:pPr algn="ctr"/>
            <a:r>
              <a:rPr lang="en-US" b="1" dirty="0"/>
              <a:t>UNIVERSITY OF MUMBAI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CA99249-4622-7589-F104-FF7A13A24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286976"/>
              </p:ext>
            </p:extLst>
          </p:nvPr>
        </p:nvGraphicFramePr>
        <p:xfrm>
          <a:off x="3408813" y="1847025"/>
          <a:ext cx="3580206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0103">
                  <a:extLst>
                    <a:ext uri="{9D8B030D-6E8A-4147-A177-3AD203B41FA5}">
                      <a16:colId xmlns:a16="http://schemas.microsoft.com/office/drawing/2014/main" val="4023847380"/>
                    </a:ext>
                  </a:extLst>
                </a:gridCol>
                <a:gridCol w="1790103">
                  <a:extLst>
                    <a:ext uri="{9D8B030D-6E8A-4147-A177-3AD203B41FA5}">
                      <a16:colId xmlns:a16="http://schemas.microsoft.com/office/drawing/2014/main" val="3032321899"/>
                    </a:ext>
                  </a:extLst>
                </a:gridCol>
              </a:tblGrid>
              <a:tr h="1047767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Soham </a:t>
                      </a:r>
                      <a:r>
                        <a:rPr lang="en-US" sz="1600" dirty="0" err="1"/>
                        <a:t>Gawas</a:t>
                      </a:r>
                    </a:p>
                    <a:p>
                      <a:pPr algn="l"/>
                      <a:r>
                        <a:rPr lang="en-US" sz="1600" dirty="0"/>
                        <a:t>Mahesh </a:t>
                      </a:r>
                      <a:r>
                        <a:rPr lang="en-US" sz="1600" dirty="0" err="1"/>
                        <a:t>Gawali</a:t>
                      </a:r>
                    </a:p>
                    <a:p>
                      <a:pPr algn="l"/>
                      <a:r>
                        <a:rPr lang="en-US" sz="1600" dirty="0"/>
                        <a:t>Bhargav </a:t>
                      </a:r>
                      <a:r>
                        <a:rPr lang="en-US" sz="1600" dirty="0" err="1"/>
                        <a:t>Ghawali</a:t>
                      </a:r>
                    </a:p>
                    <a:p>
                      <a:pPr algn="l"/>
                      <a:r>
                        <a:rPr lang="en-US" sz="1600" dirty="0"/>
                        <a:t>Ayush Devadiga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18</a:t>
                      </a:r>
                    </a:p>
                    <a:p>
                      <a:pPr algn="l"/>
                      <a:r>
                        <a:rPr lang="en-US" sz="1600" dirty="0"/>
                        <a:t>18</a:t>
                      </a:r>
                    </a:p>
                    <a:p>
                      <a:pPr algn="l"/>
                      <a:r>
                        <a:rPr lang="en-US" sz="1600" dirty="0"/>
                        <a:t>19</a:t>
                      </a:r>
                    </a:p>
                    <a:p>
                      <a:pPr algn="l"/>
                      <a:r>
                        <a:rPr lang="en-US" sz="16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353563"/>
                  </a:ext>
                </a:extLst>
              </a:tr>
            </a:tbl>
          </a:graphicData>
        </a:graphic>
      </p:graphicFrame>
      <p:pic>
        <p:nvPicPr>
          <p:cNvPr id="14" name="Picture 6" descr="https://bharatenggcollege.com/wp-content/uploads/2025/03/Logo-bharatcollege.png">
            <a:extLst>
              <a:ext uri="{FF2B5EF4-FFF2-40B4-BE49-F238E27FC236}">
                <a16:creationId xmlns:a16="http://schemas.microsoft.com/office/drawing/2014/main" id="{E3BA9FC4-4F0E-98CB-F186-FD38A742B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344" y="3260397"/>
            <a:ext cx="989303" cy="79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1109" y="744682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AND OBJECTIVES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SOFTWARE REQUIREMENTS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DESCRIPTION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ENHANCEMENTS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</p:txBody>
      </p:sp>
    </p:spTree>
  </p:cSld>
  <p:clrMapOvr>
    <a:masterClrMapping/>
  </p:clrMapOvr>
  <p:transition spd="slow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8481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InsightSwarm is a multi-agent AI fact-checking system that combats misinformation through adversarial debate. Four specialized AI agents (ProAgent, ConAgent, FactChecker, Moderator) engage in structured debate to verify claims. The system features an anti-hallucination layer that validates all cited sources, reducing false citations from 23% to under 2%. Built on free-tier infrastructure (Groq API, Streamlit), it achieves 78% accuracy compared to professional fact-checkers while providing transparent reasoning through full debate transcripts. This addresses India's misinformation crisis where 67% of users share content without verification.</a:t>
            </a:r>
            <a:endParaRPr lang="en-US" sz="1600" dirty="0"/>
          </a:p>
        </p:txBody>
      </p:sp>
    </p:spTree>
  </p:cSld>
  <p:clrMapOvr>
    <a:masterClrMapping/>
  </p:clrMapOvr>
  <p:transition spd="slow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AND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develop a reliable, transparent, and scalable AI-powered fact-checking system that reduces misinformation spread through multi-agent debate and source verification.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adversarial multi-agent system for thorough claim analysis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anti-hallucination layer to verify all source citations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75%+ accuracy compared to professional fact-checkers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transparent reasoning with complete debate transcripts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zero-cost infrastructure for sustainability</a:t>
            </a:r>
            <a:endParaRPr lang="en-US" sz="1400" dirty="0"/>
          </a:p>
        </p:txBody>
      </p:sp>
    </p:spTree>
  </p:cSld>
  <p:clrMapOvr>
    <a:masterClrMapping/>
  </p:clrMapOvr>
  <p:transition spd="slow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Misinformation Crisis: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1521229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of internet users share content without verification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Deepfakes increased by 900% in 2023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health misinformation leads to real-world harm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Solutions Fall Short: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fact-checking is slow and cannot scale to viral content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Single-AI systems hallucinate sources 15-30% of the 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 layer in existing AI fact-checkers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verdicts lack transparency and trust</a:t>
            </a:r>
            <a:endParaRPr lang="en-US" sz="1400" dirty="0"/>
          </a:p>
        </p:txBody>
      </p:sp>
    </p:spTree>
  </p:cSld>
  <p:clrMapOvr>
    <a:masterClrMapping/>
  </p:clrMapOvr>
  <p:transition spd="slow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InsightSwarm addresses the misinformation crisis through a novel multi-agent approach. Instead of relying on a single AI that can make mistakes, four specialized agents debate claims from different perspectives. This adversarial design forces thorough examination of evidence, similar to scientific peer review.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system's key innovation is the anti-hallucination layer: every source cited by agents is automatically fetched and verified. If a URL doesn't exist or doesn't contain the claimed information, it's rejected. This reduces hallucination rates from 23% in traditional systems to under 2%.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entirely on free infrastructure, InsightSwarm demonstrates that effective AI fact-checking doesn't require expensive commercial APIs, making it sustainable for long-term deployment.</a:t>
            </a:r>
            <a:endParaRPr lang="en-US" sz="1400" dirty="0"/>
          </a:p>
        </p:txBody>
      </p:sp>
    </p:spTree>
  </p:cSld>
  <p:clrMapOvr>
    <a:masterClrMapping/>
  </p:clrMapOvr>
  <p:transition spd="slow">
    <p:cover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Finding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Systems for Misinformation Detection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Zhang et al.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outperforms single-agent by 12% in 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Hallucination in Large Language Models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Kumar &amp; Singh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LLMs hallucinate citations 23% of the time without verification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Adversarial Debate for Truth Discovery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Chen et al.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Adversarial agents surface diverse perspectives effectively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Fact-Checking: A Survey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Patel et al.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Transparency and source verification are critical for user trust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Fact-Checking Approaches: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1346662"/>
            <a:ext cx="6400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Fact-Checking (Snopes, PolitiFact)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journalists research and write detailed reports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days to weeks per claim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Single-AI Systems (ChatGPT, Claude)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model answers factual questions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source verification mechanism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 (Google Fact Check)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links to fact-checking articles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must still read and decide themselves</a:t>
            </a:r>
            <a:endParaRPr lang="en-US" sz="1300" dirty="0"/>
          </a:p>
        </p:txBody>
      </p:sp>
    </p:spTree>
  </p:cSld>
  <p:clrMapOvr>
    <a:masterClrMapping/>
  </p:clrMapOvr>
  <p:transition spd="slow">
    <p:cover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 IN EXISTING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83439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Issues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fact-checking cannot keep pace with viral misinformation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Problem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cite non-existent sources 15-30% of the time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Transparency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verdicts don't show reasoning process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Perspective Bias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may miss important counterarguments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Barriers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APIs are expensive for continuous operation</a:t>
            </a:r>
            <a:endParaRPr lang="en-US" sz="1400" dirty="0"/>
          </a:p>
        </p:txBody>
      </p:sp>
    </p:spTree>
  </p:cSld>
  <p:clrMapOvr>
    <a:masterClrMapping/>
  </p:clrMapOvr>
  <p:transition spd="slow">
    <p:cover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87582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InsightSwarm: Multi-Agent Fact-Checking with Source Verification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Specialized Agents: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ProAgent - Argues claim is TRUE with supporting evidence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ConAgent - Argues claim is FALSE with counter-evidence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FactChecker - Verifies all cited sources and URLs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 - Synthesizes debate into weighted verdict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debate ensures thorough examination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 layer verifies every source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reasoning with full debate transcript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Zero-cost infrastructure using free APIs</a:t>
            </a:r>
            <a:endParaRPr lang="en-US" sz="1300" dirty="0"/>
          </a:p>
        </p:txBody>
      </p:sp>
    </p:spTree>
  </p:cSld>
  <p:clrMapOvr>
    <a:masterClrMapping/>
  </p:clrMapOvr>
  <p:transition spd="slow">
    <p:cover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2728" y="846513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Accuracy: 78% agreement with professional fact-checkers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Hallucination: From 23% to under 2% through source verification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Can process 960 debates per day on free tier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Transparency: Users see complete debate and reasoning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Cost-Effective: Zero ongoing costs with free infrastructure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Perspectives: Adversarial design surfaces diverse viewpoints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Real-time: Responds in under 60 seconds per claim</a:t>
            </a:r>
            <a:endParaRPr lang="en-US" sz="1500" dirty="0"/>
          </a:p>
        </p:txBody>
      </p:sp>
    </p:spTree>
  </p:cSld>
  <p:clrMapOvr>
    <a:masterClrMapping/>
  </p:clrMapOvr>
  <p:transition spd="slow">
    <p:cover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154382" y="11845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Intel Core i5 or higher / AMD Ryzen 5 or higher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54382" y="16417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GB minimum, 16 GB recommended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54382" y="20989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Disk: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GB free space for application and database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54382" y="25561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Stable internet connection (minimum 2 Mbps)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54382" y="30133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Device: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Keyboard and Mouse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54382" y="34705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Device: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 (1920x1080 resolution minimum)</a:t>
            </a:r>
            <a:endParaRPr lang="en-US" sz="1400" dirty="0"/>
          </a:p>
        </p:txBody>
      </p:sp>
    </p:spTree>
  </p:cSld>
  <p:clrMapOvr>
    <a:masterClrMapping/>
  </p:clrMapOvr>
  <p:transition spd="slow">
    <p:cover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482437" y="1257993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Windows 10/11, macOS 10.15+, or Linux (Ubuntu 20.04+)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82437" y="1806633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 3.11 or higher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82437" y="2263833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Streamlit (Web UI), LangGraph (Agent Orchestration)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82437" y="2721033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SQLite 3 (local), ChromaDB (vector database)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2437" y="3178233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Groq API (Llama 3.1 70B), Gemini 1.5 Flash, Brave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2437" y="3635433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Git, VS Code/PyCharm, Web Browser (Chrome/Firefox)</a:t>
            </a:r>
            <a:endParaRPr lang="en-US" sz="1400" dirty="0"/>
          </a:p>
        </p:txBody>
      </p:sp>
    </p:spTree>
  </p:cSld>
  <p:clrMapOvr>
    <a:masterClrMapping/>
  </p:clrMapOvr>
  <p:transition spd="slow">
    <p:cover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for Fact-Checking: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8637" y="13716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Evaluation: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verified claims from Snopes and PolitiFact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as True, False, Mixed, Unverifiable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Source Retrieval: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API - Encyclopedia articles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 Search API - Web search results (2,000 queries/month free)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URL fetching - Cited source verification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for debate 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for document embeddings (RAG)</a:t>
            </a:r>
            <a:endParaRPr lang="en-US" sz="1300" dirty="0"/>
          </a:p>
        </p:txBody>
      </p:sp>
    </p:spTree>
  </p:cSld>
  <p:clrMapOvr>
    <a:masterClrMapping/>
  </p:clrMapOvr>
  <p:transition spd="slow">
    <p:cover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DESCRIPTION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52054" y="97155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Interface Module: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interface for claim submission and result display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agent debate visualization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Agent Orchestration Module: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manages multi-agent workflow and state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debate rounds between agents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Source Retrieval Module: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relevant information from Wikipedia and web search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context for agent arguments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Verification Module: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 layer that validates all cited sources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URLs and verifies content matches claims</a:t>
            </a:r>
            <a:endParaRPr lang="en-US" sz="1200" dirty="0"/>
          </a:p>
        </p:txBody>
      </p:sp>
    </p:spTree>
  </p:cSld>
  <p:clrMapOvr>
    <a:masterClrMapping/>
  </p:clrMapOvr>
  <p:transition spd="slow">
    <p:cover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Techniques &amp; Algorithms: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1325880"/>
            <a:ext cx="6400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Prompting: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prompts force agents into opposing positions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thorough examination from multiple angles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Consensus Algorithm: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FactChecker receives 2x weight in final voting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 calculated from agreement levels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String Matching: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if source content matches agent claims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paraphrasing and semantic similarity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(Retrieval-Augmented Generation):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vector database for document embeddings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hallucination through grounded responses</a:t>
            </a:r>
            <a:endParaRPr lang="en-US" sz="1200" dirty="0"/>
          </a:p>
        </p:txBody>
      </p:sp>
    </p:spTree>
  </p:cSld>
  <p:clrMapOvr>
    <a:masterClrMapping/>
  </p:clrMapOvr>
  <p:transition spd="slow">
    <p:cover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91840" y="960120"/>
            <a:ext cx="2743200" cy="457200"/>
          </a:xfrm>
          <a:prstGeom prst="roundRect">
            <a:avLst/>
          </a:prstGeom>
          <a:solidFill>
            <a:srgbClr val="4472C4"/>
          </a:solidFill>
          <a:ln w="25400">
            <a:solidFill>
              <a:srgbClr val="2E4A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9642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(Web Interface)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417320"/>
            <a:ext cx="0" cy="3657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377440" y="1783080"/>
            <a:ext cx="4572000" cy="45720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507E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7744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Orchestration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240280"/>
            <a:ext cx="0" cy="3657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606040"/>
            <a:ext cx="182880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CC4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2606040"/>
            <a:ext cx="182880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CC4D5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5176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182880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CC4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FactChecker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2606040"/>
            <a:ext cx="182880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CC4D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0" cy="3657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91840" y="3520440"/>
            <a:ext cx="2743200" cy="45720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C09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(Llama 3.1 70B)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5869" y="408570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4434840"/>
            <a:ext cx="210312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434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4434840"/>
            <a:ext cx="210312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4434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 Search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434840"/>
            <a:ext cx="210312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434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ChromaDB</a:t>
            </a:r>
            <a:endParaRPr lang="en-US" sz="1100" dirty="0"/>
          </a:p>
        </p:txBody>
      </p:sp>
    </p:spTree>
  </p:cSld>
  <p:clrMapOvr>
    <a:masterClrMapping/>
  </p:clrMapOvr>
  <p:transition spd="slow">
    <p:cover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457200"/>
          </a:xfrm>
          <a:prstGeom prst="roundRect">
            <a:avLst/>
          </a:prstGeom>
          <a:solidFill>
            <a:srgbClr val="4472C4"/>
          </a:solidFill>
          <a:ln w="25400">
            <a:solidFill>
              <a:srgbClr val="2E4A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Input: Submit claim for verification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14400" y="1737360"/>
            <a:ext cx="7315200" cy="45720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507E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Source Retrieval: Fetch from Wikipedia &amp; Brave Search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194560"/>
            <a:ext cx="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2468880"/>
            <a:ext cx="7315200" cy="45720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C09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Multi-Agent Debate: 3 rounds of argument &amp; rebuttal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2926080"/>
            <a:ext cx="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3200400"/>
            <a:ext cx="7315200" cy="45720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CC4D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Source Verification: Validate all cited URLs &amp; content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657600"/>
            <a:ext cx="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3931920"/>
            <a:ext cx="7315200" cy="457200"/>
          </a:xfrm>
          <a:prstGeom prst="roundRect">
            <a:avLst/>
          </a:prstGeom>
          <a:solidFill>
            <a:srgbClr val="9467BD"/>
          </a:solidFill>
          <a:ln w="25400">
            <a:solidFill>
              <a:srgbClr val="7148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Consensus &amp; Output: Weighted verdict + full transcript</a:t>
            </a:r>
            <a:endParaRPr lang="en-US" sz="1300" dirty="0"/>
          </a:p>
        </p:txBody>
      </p:sp>
    </p:spTree>
  </p:cSld>
  <p:clrMapOvr>
    <a:masterClrMapping/>
  </p:clrMapOvr>
  <p:transition spd="slow">
    <p:cover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04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41218" y="947651"/>
            <a:ext cx="6899564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Misinformation Detection</a:t>
            </a:r>
            <a:endParaRPr lang="en-US" sz="1400" dirty="0"/>
          </a:p>
          <a:p>
            <a:pPr marL="628650" lvl="1" indent="-285750"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viral WhatsApp forwards before sharing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Health Information Verification</a:t>
            </a:r>
          </a:p>
          <a:p>
            <a:pPr marL="628650" lvl="1" indent="-285750"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medical misinformation and fake remedies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Authenticity Checking</a:t>
            </a:r>
            <a:endParaRPr lang="en-US" sz="1400" dirty="0"/>
          </a:p>
          <a:p>
            <a:pPr marL="628650" lvl="1" indent="-285750"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political claims and news headlines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Tool</a:t>
            </a:r>
            <a:endParaRPr lang="en-US" sz="1400" dirty="0"/>
          </a:p>
          <a:p>
            <a:pPr marL="628650" lvl="1" indent="-285750"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students critical thinking and source evaluation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Journalism Support</a:t>
            </a:r>
            <a:endParaRPr lang="en-US" sz="1400" dirty="0"/>
          </a:p>
          <a:p>
            <a:pPr marL="628650" lvl="1" indent="-285750"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 journalists in rapid fact-checking during reporting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Extension</a:t>
            </a:r>
            <a:endParaRPr lang="en-US" sz="1400" dirty="0"/>
          </a:p>
          <a:p>
            <a:pPr marL="628650" lvl="1" indent="-285750"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fact-checking while browsing web content</a:t>
            </a:r>
            <a:endParaRPr lang="en-US" sz="1400" dirty="0"/>
          </a:p>
        </p:txBody>
      </p:sp>
    </p:spTree>
  </p:cSld>
  <p:clrMapOvr>
    <a:masterClrMapping/>
  </p:clrMapOvr>
  <p:transition spd="slow">
    <p:cover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21822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InsightSwarm successfully addresses the misinformation crisis through a novel multi-agent approach that combines adversarial debate with rigorous source verification. By achieving 78% accuracy while reducing hallucination rates from 23% to under 2%, the system demonstrates that transparent, reliable fact-checking is achievable without expensive commercial infrastructure.</a:t>
            </a:r>
            <a:endParaRPr lang="en-US" sz="1400" dirty="0"/>
          </a:p>
          <a:p>
            <a:pPr marL="0" indent="0" algn="just">
              <a:buNone/>
            </a:pP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adversarial design ensures thorough examination of claims from multiple perspectives, mimicking the peer review process in scientific research. The anti-hallucination layer provides a critical safeguard missing from existing AI systems.</a:t>
            </a:r>
            <a:endParaRPr lang="en-US" sz="1400" dirty="0"/>
          </a:p>
          <a:p>
            <a:pPr marL="0" indent="0" algn="just">
              <a:buNone/>
            </a:pP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entirely on free-tier services (Groq API, Streamlit Cloud), InsightSwarm proves sustainable for long-term deployment and serves as a foundation for future research in multi-agent systems and AI transparency.</a:t>
            </a:r>
            <a:endParaRPr lang="en-US" sz="1400" dirty="0"/>
          </a:p>
        </p:txBody>
      </p:sp>
    </p:spTree>
  </p:cSld>
  <p:clrMapOvr>
    <a:masterClrMapping/>
  </p:clrMapOvr>
  <p:transition spd="slow">
    <p:cover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54578"/>
            <a:ext cx="8035636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Multilingual Support</a:t>
            </a:r>
          </a:p>
          <a:p>
            <a:pPr marL="6858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Expand to Hindi, Marathi, and other Indian languages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Image &amp; Video Fact-Checking</a:t>
            </a:r>
          </a:p>
          <a:p>
            <a:pPr marL="6858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Detect manipulated images and deepfake videos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Mobile Application</a:t>
            </a:r>
          </a:p>
          <a:p>
            <a:pPr marL="6858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Native Android and iOS apps for on-the-go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API for Third-Party Integration</a:t>
            </a:r>
          </a:p>
          <a:p>
            <a:pPr marL="6858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Allow news websites and social platforms to integrate fact-checking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Advanced Agent Specialization</a:t>
            </a:r>
          </a:p>
          <a:p>
            <a:pPr marL="6858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Domain-specific agents for medical, political, and scientific claims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User Reputation System</a:t>
            </a:r>
          </a:p>
          <a:p>
            <a:pPr marL="6858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Track user feedback to improve verdict accuracy over time</a:t>
            </a:r>
          </a:p>
        </p:txBody>
      </p:sp>
    </p:spTree>
  </p:cSld>
  <p:clrMapOvr>
    <a:masterClrMapping/>
  </p:clrMapOvr>
  <p:transition spd="slow">
    <p:cover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89708" y="822960"/>
            <a:ext cx="7315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Zhang, L., et al. (2023). Multi-Agent Systems for Misinformation Detection.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Journal of AI Research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Kumar, A., &amp; Singh, R. (2024). Hallucination in Large Language Models: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Challenges and Solutions. </a:t>
            </a: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 Conference Proceedings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Chen, Y., et al. (2023). Adversarial Debate for Truth Discovery in AI Systems.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 Computing Surveys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Patel, N., et al. (2024). Automated Fact-Checking: A Comprehensive Survey.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Magazine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LangChain Documentation. (2024). Multi-Agent Orchestration with LangGraph.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https://python.langchain.com/docs/langgraph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Groq. (2024). Llama 3.1 70B Model Documentation. https://groq.com</a:t>
            </a:r>
            <a:endParaRPr lang="en-US" sz="1100" dirty="0"/>
          </a:p>
        </p:txBody>
      </p:sp>
    </p:spTree>
  </p:cSld>
  <p:clrMapOvr>
    <a:masterClrMapping/>
  </p:clrMapOvr>
  <p:transition spd="slow">
    <p:cover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  <p:transition spd="slow">
    <p:cover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1628</Words>
  <Application>Microsoft Office PowerPoint</Application>
  <PresentationFormat>On-screen Show (16:9)</PresentationFormat>
  <Paragraphs>299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InsightSwarm - Multi-Agent AI Fact-Checking System</dc:title>
  <dc:subject>PptxGenJS Presentation</dc:subject>
  <dc:creator>Soham Gawas, Bhargav Ghawali, Mahesh Gawali, Ayush Devadiga</dc:creator>
  <cp:lastModifiedBy>Aastha Devadiga</cp:lastModifiedBy>
  <cp:revision>6</cp:revision>
  <dcterms:created xsi:type="dcterms:W3CDTF">2026-02-08T13:21:40Z</dcterms:created>
  <dcterms:modified xsi:type="dcterms:W3CDTF">2026-02-08T23:55:40Z</dcterms:modified>
</cp:coreProperties>
</file>